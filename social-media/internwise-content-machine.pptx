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Weekly hands-off content loop for Internwise. Four trend signals (Reddit, Instagram+TikTok via Apify, Google Trends via pytrends, and our own past results) feed a strategist that picks the week's 5 topics. OpenAI writes copy, Playwright renders the graphics in GitHub Actions, you approve on the dashboard (the one human step), then Ayrshare publishes and its analytics feed back into next week. Total ~$150-165/mo, almost all of it Ayrshare. Trust ramps in stages: approve topics, then designs, then spot-check, then fully hands-off.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100" b="1" spc="200" kern="0" dirty="0">
                <a:solidFill>
                  <a:srgbClr val="264D7E"/>
                </a:solidFill>
                <a:latin typeface="Arial" pitchFamily="34" charset="0"/>
                <a:ea typeface="Arial" pitchFamily="34" charset="-122"/>
                <a:cs typeface="Arial" pitchFamily="34" charset="-120"/>
              </a:rPr>
              <a:t>INTERNWISE · HANDS-OFF SOCIAL</a:t>
            </a:r>
            <a:endParaRPr lang="en-US" sz="1100" dirty="0"/>
          </a:p>
        </p:txBody>
      </p:sp>
      <p:sp>
        <p:nvSpPr>
          <p:cNvPr id="3" name="Text 1"/>
          <p:cNvSpPr/>
          <p:nvPr/>
        </p:nvSpPr>
        <p:spPr>
          <a:xfrm>
            <a:off x="457200" y="530352"/>
            <a:ext cx="10058400" cy="548640"/>
          </a:xfrm>
          <a:prstGeom prst="rect">
            <a:avLst/>
          </a:prstGeom>
          <a:noFill/>
          <a:ln/>
        </p:spPr>
        <p:txBody>
          <a:bodyPr wrap="square" lIns="0" tIns="0" rIns="0" bIns="0" rtlCol="0" anchor="ctr"/>
          <a:lstStyle/>
          <a:p>
            <a:pPr indent="0" marL="0">
              <a:buNone/>
            </a:pPr>
            <a:r>
              <a:rPr lang="en-US" sz="3200" b="1" dirty="0">
                <a:solidFill>
                  <a:srgbClr val="1B2637"/>
                </a:solidFill>
                <a:latin typeface="Cambria" pitchFamily="34" charset="0"/>
                <a:ea typeface="Cambria" pitchFamily="34" charset="-122"/>
                <a:cs typeface="Cambria" pitchFamily="34" charset="-120"/>
              </a:rPr>
              <a:t>The weekly content machine</a:t>
            </a:r>
            <a:endParaRPr lang="en-US" sz="3200" dirty="0"/>
          </a:p>
        </p:txBody>
      </p:sp>
      <p:sp>
        <p:nvSpPr>
          <p:cNvPr id="4" name="Text 2"/>
          <p:cNvSpPr/>
          <p:nvPr/>
        </p:nvSpPr>
        <p:spPr>
          <a:xfrm>
            <a:off x="457200" y="1225296"/>
            <a:ext cx="7315200" cy="274320"/>
          </a:xfrm>
          <a:prstGeom prst="rect">
            <a:avLst/>
          </a:prstGeom>
          <a:noFill/>
          <a:ln/>
        </p:spPr>
        <p:txBody>
          <a:bodyPr wrap="square" lIns="0" tIns="0" rIns="0" bIns="0" rtlCol="0" anchor="ctr"/>
          <a:lstStyle/>
          <a:p>
            <a:pPr indent="0" marL="0">
              <a:buNone/>
            </a:pPr>
            <a:r>
              <a:rPr lang="en-US" sz="1150" b="1" dirty="0">
                <a:solidFill>
                  <a:srgbClr val="5C6B82"/>
                </a:solidFill>
                <a:latin typeface="Arial" pitchFamily="34" charset="0"/>
                <a:ea typeface="Arial" pitchFamily="34" charset="-122"/>
                <a:cs typeface="Arial" pitchFamily="34" charset="-120"/>
              </a:rPr>
              <a:t>LISTEN · 4 signals, in parallel</a:t>
            </a:r>
            <a:endParaRPr lang="en-US" sz="1150" dirty="0"/>
          </a:p>
        </p:txBody>
      </p:sp>
      <p:sp>
        <p:nvSpPr>
          <p:cNvPr id="5" name="Shape 3"/>
          <p:cNvSpPr/>
          <p:nvPr/>
        </p:nvSpPr>
        <p:spPr>
          <a:xfrm>
            <a:off x="457200" y="1517904"/>
            <a:ext cx="2624328" cy="868680"/>
          </a:xfrm>
          <a:prstGeom prst="roundRect">
            <a:avLst>
              <a:gd name="adj" fmla="val 9474"/>
            </a:avLst>
          </a:prstGeom>
          <a:solidFill>
            <a:srgbClr val="EEF3F8"/>
          </a:solidFill>
          <a:ln w="12700">
            <a:solidFill>
              <a:srgbClr val="C6D3E2"/>
            </a:solidFill>
            <a:prstDash val="solid"/>
          </a:ln>
        </p:spPr>
      </p:sp>
      <p:sp>
        <p:nvSpPr>
          <p:cNvPr id="6" name="Text 4"/>
          <p:cNvSpPr/>
          <p:nvPr/>
        </p:nvSpPr>
        <p:spPr>
          <a:xfrm>
            <a:off x="603504" y="1645920"/>
            <a:ext cx="2350008" cy="649224"/>
          </a:xfrm>
          <a:prstGeom prst="rect">
            <a:avLst/>
          </a:prstGeom>
          <a:noFill/>
          <a:ln/>
        </p:spPr>
        <p:txBody>
          <a:bodyPr wrap="square" lIns="0" tIns="0" rIns="0" bIns="0" rtlCol="0" anchor="t"/>
          <a:lstStyle/>
          <a:p>
            <a:pPr algn="l" indent="0" marL="0">
              <a:lnSpc>
                <a:spcPct val="100000"/>
              </a:lnSpc>
              <a:spcAft>
                <a:spcPts val="300"/>
              </a:spcAft>
              <a:buNone/>
            </a:pPr>
            <a:r>
              <a:rPr lang="en-US" sz="1400" b="1" dirty="0">
                <a:solidFill>
                  <a:srgbClr val="1B2637"/>
                </a:solidFill>
              </a:rPr>
              <a:t>Reddit</a:t>
            </a:r>
            <a:endParaRPr lang="en-US" sz="1400" dirty="0"/>
          </a:p>
          <a:p>
            <a:pPr algn="l" indent="0" marL="0">
              <a:lnSpc>
                <a:spcPct val="100000"/>
              </a:lnSpc>
              <a:spcAft>
                <a:spcPts val="300"/>
              </a:spcAft>
              <a:buNone/>
            </a:pPr>
            <a:r>
              <a:rPr lang="en-US" sz="1100" dirty="0">
                <a:solidFill>
                  <a:srgbClr val="5C6B82"/>
                </a:solidFill>
              </a:rPr>
              <a:t>pain points &amp; real language</a:t>
            </a:r>
            <a:endParaRPr lang="en-US" sz="1400" dirty="0"/>
          </a:p>
        </p:txBody>
      </p:sp>
      <p:sp>
        <p:nvSpPr>
          <p:cNvPr id="7" name="Shape 5"/>
          <p:cNvSpPr/>
          <p:nvPr/>
        </p:nvSpPr>
        <p:spPr>
          <a:xfrm>
            <a:off x="3337560" y="1517904"/>
            <a:ext cx="2624328" cy="868680"/>
          </a:xfrm>
          <a:prstGeom prst="roundRect">
            <a:avLst>
              <a:gd name="adj" fmla="val 9474"/>
            </a:avLst>
          </a:prstGeom>
          <a:solidFill>
            <a:srgbClr val="EEF3F8"/>
          </a:solidFill>
          <a:ln w="12700">
            <a:solidFill>
              <a:srgbClr val="C6D3E2"/>
            </a:solidFill>
            <a:prstDash val="solid"/>
          </a:ln>
        </p:spPr>
      </p:sp>
      <p:sp>
        <p:nvSpPr>
          <p:cNvPr id="8" name="Text 6"/>
          <p:cNvSpPr/>
          <p:nvPr/>
        </p:nvSpPr>
        <p:spPr>
          <a:xfrm>
            <a:off x="3483864" y="1645920"/>
            <a:ext cx="2350008" cy="649224"/>
          </a:xfrm>
          <a:prstGeom prst="rect">
            <a:avLst/>
          </a:prstGeom>
          <a:noFill/>
          <a:ln/>
        </p:spPr>
        <p:txBody>
          <a:bodyPr wrap="square" lIns="0" tIns="0" rIns="0" bIns="0" rtlCol="0" anchor="t"/>
          <a:lstStyle/>
          <a:p>
            <a:pPr algn="l" indent="0" marL="0">
              <a:lnSpc>
                <a:spcPct val="100000"/>
              </a:lnSpc>
              <a:spcAft>
                <a:spcPts val="300"/>
              </a:spcAft>
              <a:buNone/>
            </a:pPr>
            <a:r>
              <a:rPr lang="en-US" sz="1400" b="1" dirty="0">
                <a:solidFill>
                  <a:srgbClr val="1B2637"/>
                </a:solidFill>
              </a:rPr>
              <a:t>Instagram + TikTok</a:t>
            </a:r>
            <a:endParaRPr lang="en-US" sz="1400" dirty="0"/>
          </a:p>
          <a:p>
            <a:pPr algn="l" indent="0" marL="0">
              <a:lnSpc>
                <a:spcPct val="100000"/>
              </a:lnSpc>
              <a:spcAft>
                <a:spcPts val="300"/>
              </a:spcAft>
              <a:buNone/>
            </a:pPr>
            <a:r>
              <a:rPr lang="en-US" sz="1100" dirty="0">
                <a:solidFill>
                  <a:srgbClr val="5C6B82"/>
                </a:solidFill>
              </a:rPr>
              <a:t>competitor breakouts</a:t>
            </a:r>
            <a:endParaRPr lang="en-US" sz="1400" dirty="0"/>
          </a:p>
        </p:txBody>
      </p:sp>
      <p:sp>
        <p:nvSpPr>
          <p:cNvPr id="9" name="Shape 7"/>
          <p:cNvSpPr/>
          <p:nvPr/>
        </p:nvSpPr>
        <p:spPr>
          <a:xfrm>
            <a:off x="6217920" y="1517904"/>
            <a:ext cx="2624328" cy="868680"/>
          </a:xfrm>
          <a:prstGeom prst="roundRect">
            <a:avLst>
              <a:gd name="adj" fmla="val 9474"/>
            </a:avLst>
          </a:prstGeom>
          <a:solidFill>
            <a:srgbClr val="EEF3F8"/>
          </a:solidFill>
          <a:ln w="12700">
            <a:solidFill>
              <a:srgbClr val="C6D3E2"/>
            </a:solidFill>
            <a:prstDash val="solid"/>
          </a:ln>
        </p:spPr>
      </p:sp>
      <p:sp>
        <p:nvSpPr>
          <p:cNvPr id="10" name="Text 8"/>
          <p:cNvSpPr/>
          <p:nvPr/>
        </p:nvSpPr>
        <p:spPr>
          <a:xfrm>
            <a:off x="6364224" y="1645920"/>
            <a:ext cx="2350008" cy="649224"/>
          </a:xfrm>
          <a:prstGeom prst="rect">
            <a:avLst/>
          </a:prstGeom>
          <a:noFill/>
          <a:ln/>
        </p:spPr>
        <p:txBody>
          <a:bodyPr wrap="square" lIns="0" tIns="0" rIns="0" bIns="0" rtlCol="0" anchor="t"/>
          <a:lstStyle/>
          <a:p>
            <a:pPr algn="l" indent="0" marL="0">
              <a:lnSpc>
                <a:spcPct val="100000"/>
              </a:lnSpc>
              <a:spcAft>
                <a:spcPts val="300"/>
              </a:spcAft>
              <a:buNone/>
            </a:pPr>
            <a:r>
              <a:rPr lang="en-US" sz="1400" b="1" dirty="0">
                <a:solidFill>
                  <a:srgbClr val="1B2637"/>
                </a:solidFill>
              </a:rPr>
              <a:t>Google Trends</a:t>
            </a:r>
            <a:endParaRPr lang="en-US" sz="1400" dirty="0"/>
          </a:p>
          <a:p>
            <a:pPr algn="l" indent="0" marL="0">
              <a:lnSpc>
                <a:spcPct val="100000"/>
              </a:lnSpc>
              <a:spcAft>
                <a:spcPts val="300"/>
              </a:spcAft>
              <a:buNone/>
            </a:pPr>
            <a:r>
              <a:rPr lang="en-US" sz="1100" dirty="0">
                <a:solidFill>
                  <a:srgbClr val="5C6B82"/>
                </a:solidFill>
              </a:rPr>
              <a:t>rising searches</a:t>
            </a:r>
            <a:endParaRPr lang="en-US" sz="1400" dirty="0"/>
          </a:p>
        </p:txBody>
      </p:sp>
      <p:sp>
        <p:nvSpPr>
          <p:cNvPr id="11" name="Shape 9"/>
          <p:cNvSpPr/>
          <p:nvPr/>
        </p:nvSpPr>
        <p:spPr>
          <a:xfrm>
            <a:off x="9098280" y="1517904"/>
            <a:ext cx="2624328" cy="868680"/>
          </a:xfrm>
          <a:prstGeom prst="roundRect">
            <a:avLst>
              <a:gd name="adj" fmla="val 9474"/>
            </a:avLst>
          </a:prstGeom>
          <a:solidFill>
            <a:srgbClr val="EEF3F8"/>
          </a:solidFill>
          <a:ln w="12700">
            <a:solidFill>
              <a:srgbClr val="C6D3E2"/>
            </a:solidFill>
            <a:prstDash val="solid"/>
          </a:ln>
        </p:spPr>
      </p:sp>
      <p:sp>
        <p:nvSpPr>
          <p:cNvPr id="12" name="Text 10"/>
          <p:cNvSpPr/>
          <p:nvPr/>
        </p:nvSpPr>
        <p:spPr>
          <a:xfrm>
            <a:off x="9244584" y="1645920"/>
            <a:ext cx="2350008" cy="649224"/>
          </a:xfrm>
          <a:prstGeom prst="rect">
            <a:avLst/>
          </a:prstGeom>
          <a:noFill/>
          <a:ln/>
        </p:spPr>
        <p:txBody>
          <a:bodyPr wrap="square" lIns="0" tIns="0" rIns="0" bIns="0" rtlCol="0" anchor="t"/>
          <a:lstStyle/>
          <a:p>
            <a:pPr algn="l" indent="0" marL="0">
              <a:lnSpc>
                <a:spcPct val="100000"/>
              </a:lnSpc>
              <a:spcAft>
                <a:spcPts val="300"/>
              </a:spcAft>
              <a:buNone/>
            </a:pPr>
            <a:r>
              <a:rPr lang="en-US" sz="1400" b="1" dirty="0">
                <a:solidFill>
                  <a:srgbClr val="1B2637"/>
                </a:solidFill>
              </a:rPr>
              <a:t>Your results</a:t>
            </a:r>
            <a:endParaRPr lang="en-US" sz="1400" dirty="0"/>
          </a:p>
          <a:p>
            <a:pPr algn="l" indent="0" marL="0">
              <a:lnSpc>
                <a:spcPct val="100000"/>
              </a:lnSpc>
              <a:spcAft>
                <a:spcPts val="300"/>
              </a:spcAft>
              <a:buNone/>
            </a:pPr>
            <a:r>
              <a:rPr lang="en-US" sz="1100" dirty="0">
                <a:solidFill>
                  <a:srgbClr val="5C6B82"/>
                </a:solidFill>
              </a:rPr>
              <a:t>what worked before</a:t>
            </a:r>
            <a:endParaRPr lang="en-US" sz="1400" dirty="0"/>
          </a:p>
        </p:txBody>
      </p:sp>
      <p:sp>
        <p:nvSpPr>
          <p:cNvPr id="13" name="Shape 11"/>
          <p:cNvSpPr/>
          <p:nvPr/>
        </p:nvSpPr>
        <p:spPr>
          <a:xfrm>
            <a:off x="1769364" y="2404872"/>
            <a:ext cx="0" cy="274320"/>
          </a:xfrm>
          <a:prstGeom prst="line">
            <a:avLst/>
          </a:prstGeom>
          <a:noFill/>
          <a:ln w="22225">
            <a:solidFill>
              <a:srgbClr val="8A98AC"/>
            </a:solidFill>
            <a:prstDash val="solid"/>
            <a:tailEnd type="triangle"/>
          </a:ln>
        </p:spPr>
      </p:sp>
      <p:sp>
        <p:nvSpPr>
          <p:cNvPr id="14" name="Shape 12"/>
          <p:cNvSpPr/>
          <p:nvPr/>
        </p:nvSpPr>
        <p:spPr>
          <a:xfrm>
            <a:off x="4649724" y="2404872"/>
            <a:ext cx="0" cy="274320"/>
          </a:xfrm>
          <a:prstGeom prst="line">
            <a:avLst/>
          </a:prstGeom>
          <a:noFill/>
          <a:ln w="22225">
            <a:solidFill>
              <a:srgbClr val="8A98AC"/>
            </a:solidFill>
            <a:prstDash val="solid"/>
            <a:tailEnd type="triangle"/>
          </a:ln>
        </p:spPr>
      </p:sp>
      <p:sp>
        <p:nvSpPr>
          <p:cNvPr id="15" name="Shape 13"/>
          <p:cNvSpPr/>
          <p:nvPr/>
        </p:nvSpPr>
        <p:spPr>
          <a:xfrm>
            <a:off x="7530084" y="2404872"/>
            <a:ext cx="0" cy="274320"/>
          </a:xfrm>
          <a:prstGeom prst="line">
            <a:avLst/>
          </a:prstGeom>
          <a:noFill/>
          <a:ln w="22225">
            <a:solidFill>
              <a:srgbClr val="8A98AC"/>
            </a:solidFill>
            <a:prstDash val="solid"/>
            <a:tailEnd type="triangle"/>
          </a:ln>
        </p:spPr>
      </p:sp>
      <p:sp>
        <p:nvSpPr>
          <p:cNvPr id="16" name="Shape 14"/>
          <p:cNvSpPr/>
          <p:nvPr/>
        </p:nvSpPr>
        <p:spPr>
          <a:xfrm>
            <a:off x="10410444" y="2404872"/>
            <a:ext cx="0" cy="274320"/>
          </a:xfrm>
          <a:prstGeom prst="line">
            <a:avLst/>
          </a:prstGeom>
          <a:noFill/>
          <a:ln w="22225">
            <a:solidFill>
              <a:srgbClr val="8A98AC"/>
            </a:solidFill>
            <a:prstDash val="solid"/>
            <a:tailEnd type="triangle"/>
          </a:ln>
        </p:spPr>
      </p:sp>
      <p:sp>
        <p:nvSpPr>
          <p:cNvPr id="17" name="Shape 15"/>
          <p:cNvSpPr/>
          <p:nvPr/>
        </p:nvSpPr>
        <p:spPr>
          <a:xfrm>
            <a:off x="457200" y="2697480"/>
            <a:ext cx="11274552" cy="786384"/>
          </a:xfrm>
          <a:prstGeom prst="roundRect">
            <a:avLst>
              <a:gd name="adj" fmla="val 10465"/>
            </a:avLst>
          </a:prstGeom>
          <a:solidFill>
            <a:srgbClr val="264D7E"/>
          </a:solidFill>
          <a:ln w="12700">
            <a:solidFill>
              <a:srgbClr val="264D7E"/>
            </a:solidFill>
            <a:prstDash val="solid"/>
          </a:ln>
        </p:spPr>
      </p:sp>
      <p:sp>
        <p:nvSpPr>
          <p:cNvPr id="18" name="Text 16"/>
          <p:cNvSpPr/>
          <p:nvPr/>
        </p:nvSpPr>
        <p:spPr>
          <a:xfrm>
            <a:off x="777240" y="2807208"/>
            <a:ext cx="10607040" cy="603504"/>
          </a:xfrm>
          <a:prstGeom prst="rect">
            <a:avLst/>
          </a:prstGeom>
          <a:noFill/>
          <a:ln/>
        </p:spPr>
        <p:txBody>
          <a:bodyPr wrap="square" lIns="0" tIns="0" rIns="0" bIns="0" rtlCol="0" anchor="t"/>
          <a:lstStyle/>
          <a:p>
            <a:pPr algn="l" indent="0" marL="0">
              <a:spcAft>
                <a:spcPts val="400"/>
              </a:spcAft>
              <a:buNone/>
            </a:pPr>
            <a:r>
              <a:rPr lang="en-US" sz="1600" b="1" dirty="0">
                <a:solidFill>
                  <a:srgbClr val="FFFFFF"/>
                </a:solidFill>
              </a:rPr>
              <a:t>Strategist</a:t>
            </a:r>
            <a:endParaRPr lang="en-US" sz="1600" dirty="0"/>
          </a:p>
          <a:p>
            <a:pPr algn="l" indent="0" marL="0">
              <a:spcAft>
                <a:spcPts val="400"/>
              </a:spcAft>
              <a:buNone/>
            </a:pPr>
            <a:r>
              <a:rPr lang="en-US" sz="1200" dirty="0">
                <a:solidFill>
                  <a:srgbClr val="CFE0F2"/>
                </a:solidFill>
              </a:rPr>
              <a:t>scores every signal  ·  picks the week's 5 topics, angles &amp; design languages</a:t>
            </a:r>
            <a:endParaRPr lang="en-US" sz="1600" dirty="0"/>
          </a:p>
        </p:txBody>
      </p:sp>
      <p:sp>
        <p:nvSpPr>
          <p:cNvPr id="19" name="Shape 17"/>
          <p:cNvSpPr/>
          <p:nvPr/>
        </p:nvSpPr>
        <p:spPr>
          <a:xfrm>
            <a:off x="6094476" y="3502152"/>
            <a:ext cx="0" cy="256032"/>
          </a:xfrm>
          <a:prstGeom prst="line">
            <a:avLst/>
          </a:prstGeom>
          <a:noFill/>
          <a:ln w="22225">
            <a:solidFill>
              <a:srgbClr val="8A98AC"/>
            </a:solidFill>
            <a:prstDash val="solid"/>
            <a:tailEnd type="triangle"/>
          </a:ln>
        </p:spPr>
      </p:sp>
      <p:sp>
        <p:nvSpPr>
          <p:cNvPr id="20" name="Text 18"/>
          <p:cNvSpPr/>
          <p:nvPr/>
        </p:nvSpPr>
        <p:spPr>
          <a:xfrm>
            <a:off x="457200" y="3538728"/>
            <a:ext cx="7315200" cy="274320"/>
          </a:xfrm>
          <a:prstGeom prst="rect">
            <a:avLst/>
          </a:prstGeom>
          <a:noFill/>
          <a:ln/>
        </p:spPr>
        <p:txBody>
          <a:bodyPr wrap="square" lIns="0" tIns="0" rIns="0" bIns="0" rtlCol="0" anchor="ctr"/>
          <a:lstStyle/>
          <a:p>
            <a:pPr indent="0" marL="0">
              <a:buNone/>
            </a:pPr>
            <a:r>
              <a:rPr lang="en-US" sz="1150" b="1" dirty="0">
                <a:solidFill>
                  <a:srgbClr val="5C6B82"/>
                </a:solidFill>
                <a:latin typeface="Arial" pitchFamily="34" charset="0"/>
                <a:ea typeface="Arial" pitchFamily="34" charset="-122"/>
                <a:cs typeface="Arial" pitchFamily="34" charset="-120"/>
              </a:rPr>
              <a:t>MAKE + SHIP · with one human gate</a:t>
            </a:r>
            <a:endParaRPr lang="en-US" sz="1150" dirty="0"/>
          </a:p>
        </p:txBody>
      </p:sp>
      <p:sp>
        <p:nvSpPr>
          <p:cNvPr id="21" name="Shape 19"/>
          <p:cNvSpPr/>
          <p:nvPr/>
        </p:nvSpPr>
        <p:spPr>
          <a:xfrm>
            <a:off x="457200" y="3849624"/>
            <a:ext cx="2624328" cy="896112"/>
          </a:xfrm>
          <a:prstGeom prst="roundRect">
            <a:avLst>
              <a:gd name="adj" fmla="val 9184"/>
            </a:avLst>
          </a:prstGeom>
          <a:solidFill>
            <a:srgbClr val="EEF3F8"/>
          </a:solidFill>
          <a:ln w="12700">
            <a:solidFill>
              <a:srgbClr val="C6D3E2"/>
            </a:solidFill>
            <a:prstDash val="solid"/>
          </a:ln>
        </p:spPr>
      </p:sp>
      <p:sp>
        <p:nvSpPr>
          <p:cNvPr id="22" name="Text 20"/>
          <p:cNvSpPr/>
          <p:nvPr/>
        </p:nvSpPr>
        <p:spPr>
          <a:xfrm>
            <a:off x="603504" y="3977640"/>
            <a:ext cx="2350008" cy="676656"/>
          </a:xfrm>
          <a:prstGeom prst="rect">
            <a:avLst/>
          </a:prstGeom>
          <a:noFill/>
          <a:ln/>
        </p:spPr>
        <p:txBody>
          <a:bodyPr wrap="square" lIns="0" tIns="0" rIns="0" bIns="0" rtlCol="0" anchor="t"/>
          <a:lstStyle/>
          <a:p>
            <a:pPr algn="l" indent="0" marL="0">
              <a:lnSpc>
                <a:spcPct val="100000"/>
              </a:lnSpc>
              <a:spcAft>
                <a:spcPts val="300"/>
              </a:spcAft>
              <a:buNone/>
            </a:pPr>
            <a:r>
              <a:rPr lang="en-US" sz="1400" b="1" dirty="0">
                <a:solidFill>
                  <a:srgbClr val="1B2637"/>
                </a:solidFill>
              </a:rPr>
              <a:t>Write</a:t>
            </a:r>
            <a:endParaRPr lang="en-US" sz="1400" dirty="0"/>
          </a:p>
          <a:p>
            <a:pPr algn="l" indent="0" marL="0">
              <a:lnSpc>
                <a:spcPct val="100000"/>
              </a:lnSpc>
              <a:spcAft>
                <a:spcPts val="300"/>
              </a:spcAft>
              <a:buNone/>
            </a:pPr>
            <a:r>
              <a:rPr lang="en-US" sz="1100" dirty="0">
                <a:solidFill>
                  <a:srgbClr val="5C6B82"/>
                </a:solidFill>
              </a:rPr>
              <a:t>OpenAI · posts + captions</a:t>
            </a:r>
            <a:endParaRPr lang="en-US" sz="1400" dirty="0"/>
          </a:p>
        </p:txBody>
      </p:sp>
      <p:sp>
        <p:nvSpPr>
          <p:cNvPr id="23" name="Shape 21"/>
          <p:cNvSpPr/>
          <p:nvPr/>
        </p:nvSpPr>
        <p:spPr>
          <a:xfrm>
            <a:off x="3337560" y="3849624"/>
            <a:ext cx="2624328" cy="896112"/>
          </a:xfrm>
          <a:prstGeom prst="roundRect">
            <a:avLst>
              <a:gd name="adj" fmla="val 9184"/>
            </a:avLst>
          </a:prstGeom>
          <a:solidFill>
            <a:srgbClr val="EEF3F8"/>
          </a:solidFill>
          <a:ln w="12700">
            <a:solidFill>
              <a:srgbClr val="C6D3E2"/>
            </a:solidFill>
            <a:prstDash val="solid"/>
          </a:ln>
        </p:spPr>
      </p:sp>
      <p:sp>
        <p:nvSpPr>
          <p:cNvPr id="24" name="Text 22"/>
          <p:cNvSpPr/>
          <p:nvPr/>
        </p:nvSpPr>
        <p:spPr>
          <a:xfrm>
            <a:off x="3483864" y="3977640"/>
            <a:ext cx="2350008" cy="676656"/>
          </a:xfrm>
          <a:prstGeom prst="rect">
            <a:avLst/>
          </a:prstGeom>
          <a:noFill/>
          <a:ln/>
        </p:spPr>
        <p:txBody>
          <a:bodyPr wrap="square" lIns="0" tIns="0" rIns="0" bIns="0" rtlCol="0" anchor="t"/>
          <a:lstStyle/>
          <a:p>
            <a:pPr algn="l" indent="0" marL="0">
              <a:lnSpc>
                <a:spcPct val="100000"/>
              </a:lnSpc>
              <a:spcAft>
                <a:spcPts val="300"/>
              </a:spcAft>
              <a:buNone/>
            </a:pPr>
            <a:r>
              <a:rPr lang="en-US" sz="1400" b="1" dirty="0">
                <a:solidFill>
                  <a:srgbClr val="1B2637"/>
                </a:solidFill>
              </a:rPr>
              <a:t>Design</a:t>
            </a:r>
            <a:endParaRPr lang="en-US" sz="1400" dirty="0"/>
          </a:p>
          <a:p>
            <a:pPr algn="l" indent="0" marL="0">
              <a:lnSpc>
                <a:spcPct val="100000"/>
              </a:lnSpc>
              <a:spcAft>
                <a:spcPts val="300"/>
              </a:spcAft>
              <a:buNone/>
            </a:pPr>
            <a:r>
              <a:rPr lang="en-US" sz="1100" dirty="0">
                <a:solidFill>
                  <a:srgbClr val="5C6B82"/>
                </a:solidFill>
              </a:rPr>
              <a:t>5 graphics, auto-rendered</a:t>
            </a:r>
            <a:endParaRPr lang="en-US" sz="1400" dirty="0"/>
          </a:p>
        </p:txBody>
      </p:sp>
      <p:sp>
        <p:nvSpPr>
          <p:cNvPr id="25" name="Shape 23"/>
          <p:cNvSpPr/>
          <p:nvPr/>
        </p:nvSpPr>
        <p:spPr>
          <a:xfrm>
            <a:off x="6217920" y="3849624"/>
            <a:ext cx="2624328" cy="896112"/>
          </a:xfrm>
          <a:prstGeom prst="roundRect">
            <a:avLst>
              <a:gd name="adj" fmla="val 9184"/>
            </a:avLst>
          </a:prstGeom>
          <a:solidFill>
            <a:srgbClr val="FBEFD4"/>
          </a:solidFill>
          <a:ln w="22225">
            <a:solidFill>
              <a:srgbClr val="E3A11C"/>
            </a:solidFill>
            <a:prstDash val="solid"/>
          </a:ln>
        </p:spPr>
      </p:sp>
      <p:sp>
        <p:nvSpPr>
          <p:cNvPr id="26" name="Text 24"/>
          <p:cNvSpPr/>
          <p:nvPr/>
        </p:nvSpPr>
        <p:spPr>
          <a:xfrm>
            <a:off x="6364224" y="3977640"/>
            <a:ext cx="2350008" cy="676656"/>
          </a:xfrm>
          <a:prstGeom prst="rect">
            <a:avLst/>
          </a:prstGeom>
          <a:noFill/>
          <a:ln/>
        </p:spPr>
        <p:txBody>
          <a:bodyPr wrap="square" lIns="0" tIns="0" rIns="0" bIns="0" rtlCol="0" anchor="t"/>
          <a:lstStyle/>
          <a:p>
            <a:pPr algn="l" indent="0" marL="0">
              <a:lnSpc>
                <a:spcPct val="100000"/>
              </a:lnSpc>
              <a:spcAft>
                <a:spcPts val="300"/>
              </a:spcAft>
              <a:buNone/>
            </a:pPr>
            <a:r>
              <a:rPr lang="en-US" sz="1400" b="1" dirty="0">
                <a:solidFill>
                  <a:srgbClr val="1B2637"/>
                </a:solidFill>
              </a:rPr>
              <a:t>Check  (you)</a:t>
            </a:r>
            <a:endParaRPr lang="en-US" sz="1400" dirty="0"/>
          </a:p>
          <a:p>
            <a:pPr algn="l" indent="0" marL="0">
              <a:lnSpc>
                <a:spcPct val="100000"/>
              </a:lnSpc>
              <a:spcAft>
                <a:spcPts val="300"/>
              </a:spcAft>
              <a:buNone/>
            </a:pPr>
            <a:r>
              <a:rPr lang="en-US" sz="1100" dirty="0">
                <a:solidFill>
                  <a:srgbClr val="5C6B82"/>
                </a:solidFill>
              </a:rPr>
              <a:t>approve · about 30 seconds</a:t>
            </a:r>
            <a:endParaRPr lang="en-US" sz="1400" dirty="0"/>
          </a:p>
        </p:txBody>
      </p:sp>
      <p:sp>
        <p:nvSpPr>
          <p:cNvPr id="27" name="Shape 25"/>
          <p:cNvSpPr/>
          <p:nvPr/>
        </p:nvSpPr>
        <p:spPr>
          <a:xfrm>
            <a:off x="9098280" y="3849624"/>
            <a:ext cx="2624328" cy="896112"/>
          </a:xfrm>
          <a:prstGeom prst="roundRect">
            <a:avLst>
              <a:gd name="adj" fmla="val 9184"/>
            </a:avLst>
          </a:prstGeom>
          <a:solidFill>
            <a:srgbClr val="EEF3F8"/>
          </a:solidFill>
          <a:ln w="12700">
            <a:solidFill>
              <a:srgbClr val="C6D3E2"/>
            </a:solidFill>
            <a:prstDash val="solid"/>
          </a:ln>
        </p:spPr>
      </p:sp>
      <p:sp>
        <p:nvSpPr>
          <p:cNvPr id="28" name="Text 26"/>
          <p:cNvSpPr/>
          <p:nvPr/>
        </p:nvSpPr>
        <p:spPr>
          <a:xfrm>
            <a:off x="9244584" y="3977640"/>
            <a:ext cx="2350008" cy="676656"/>
          </a:xfrm>
          <a:prstGeom prst="rect">
            <a:avLst/>
          </a:prstGeom>
          <a:noFill/>
          <a:ln/>
        </p:spPr>
        <p:txBody>
          <a:bodyPr wrap="square" lIns="0" tIns="0" rIns="0" bIns="0" rtlCol="0" anchor="t"/>
          <a:lstStyle/>
          <a:p>
            <a:pPr algn="l" indent="0" marL="0">
              <a:lnSpc>
                <a:spcPct val="100000"/>
              </a:lnSpc>
              <a:spcAft>
                <a:spcPts val="300"/>
              </a:spcAft>
              <a:buNone/>
            </a:pPr>
            <a:r>
              <a:rPr lang="en-US" sz="1400" b="1" dirty="0">
                <a:solidFill>
                  <a:srgbClr val="1B2637"/>
                </a:solidFill>
              </a:rPr>
              <a:t>Publish</a:t>
            </a:r>
            <a:endParaRPr lang="en-US" sz="1400" dirty="0"/>
          </a:p>
          <a:p>
            <a:pPr algn="l" indent="0" marL="0">
              <a:lnSpc>
                <a:spcPct val="100000"/>
              </a:lnSpc>
              <a:spcAft>
                <a:spcPts val="300"/>
              </a:spcAft>
              <a:buNone/>
            </a:pPr>
            <a:r>
              <a:rPr lang="en-US" sz="1100" dirty="0">
                <a:solidFill>
                  <a:srgbClr val="5C6B82"/>
                </a:solidFill>
              </a:rPr>
              <a:t>Ayrshare · to your socials</a:t>
            </a:r>
            <a:endParaRPr lang="en-US" sz="1400" dirty="0"/>
          </a:p>
        </p:txBody>
      </p:sp>
      <p:sp>
        <p:nvSpPr>
          <p:cNvPr id="29" name="Shape 27"/>
          <p:cNvSpPr/>
          <p:nvPr/>
        </p:nvSpPr>
        <p:spPr>
          <a:xfrm>
            <a:off x="3108960" y="4297680"/>
            <a:ext cx="201168" cy="0"/>
          </a:xfrm>
          <a:prstGeom prst="line">
            <a:avLst/>
          </a:prstGeom>
          <a:noFill/>
          <a:ln w="22225">
            <a:solidFill>
              <a:srgbClr val="8A98AC"/>
            </a:solidFill>
            <a:prstDash val="solid"/>
            <a:tailEnd type="triangle"/>
          </a:ln>
        </p:spPr>
      </p:sp>
      <p:sp>
        <p:nvSpPr>
          <p:cNvPr id="30" name="Shape 28"/>
          <p:cNvSpPr/>
          <p:nvPr/>
        </p:nvSpPr>
        <p:spPr>
          <a:xfrm>
            <a:off x="5989320" y="4297680"/>
            <a:ext cx="201168" cy="0"/>
          </a:xfrm>
          <a:prstGeom prst="line">
            <a:avLst/>
          </a:prstGeom>
          <a:noFill/>
          <a:ln w="22225">
            <a:solidFill>
              <a:srgbClr val="8A98AC"/>
            </a:solidFill>
            <a:prstDash val="solid"/>
            <a:tailEnd type="triangle"/>
          </a:ln>
        </p:spPr>
      </p:sp>
      <p:sp>
        <p:nvSpPr>
          <p:cNvPr id="31" name="Shape 29"/>
          <p:cNvSpPr/>
          <p:nvPr/>
        </p:nvSpPr>
        <p:spPr>
          <a:xfrm>
            <a:off x="8869680" y="4297680"/>
            <a:ext cx="201168" cy="0"/>
          </a:xfrm>
          <a:prstGeom prst="line">
            <a:avLst/>
          </a:prstGeom>
          <a:noFill/>
          <a:ln w="22225">
            <a:solidFill>
              <a:srgbClr val="8A98AC"/>
            </a:solidFill>
            <a:prstDash val="solid"/>
            <a:tailEnd type="triangle"/>
          </a:ln>
        </p:spPr>
      </p:sp>
      <p:sp>
        <p:nvSpPr>
          <p:cNvPr id="32" name="Shape 30"/>
          <p:cNvSpPr/>
          <p:nvPr/>
        </p:nvSpPr>
        <p:spPr>
          <a:xfrm>
            <a:off x="914400" y="5056632"/>
            <a:ext cx="10058400" cy="0"/>
          </a:xfrm>
          <a:prstGeom prst="line">
            <a:avLst/>
          </a:prstGeom>
          <a:noFill/>
          <a:ln w="22225">
            <a:solidFill>
              <a:srgbClr val="E3A11C"/>
            </a:solidFill>
            <a:prstDash val="dash"/>
            <a:headEnd type="triangle"/>
          </a:ln>
        </p:spPr>
      </p:sp>
      <p:sp>
        <p:nvSpPr>
          <p:cNvPr id="33" name="Text 31"/>
          <p:cNvSpPr/>
          <p:nvPr/>
        </p:nvSpPr>
        <p:spPr>
          <a:xfrm>
            <a:off x="457200" y="5093208"/>
            <a:ext cx="11274552" cy="274320"/>
          </a:xfrm>
          <a:prstGeom prst="rect">
            <a:avLst/>
          </a:prstGeom>
          <a:noFill/>
          <a:ln/>
        </p:spPr>
        <p:txBody>
          <a:bodyPr wrap="square" lIns="0" tIns="0" rIns="0" bIns="0" rtlCol="0" anchor="ctr"/>
          <a:lstStyle/>
          <a:p>
            <a:pPr algn="ctr" indent="0" marL="0">
              <a:buNone/>
            </a:pPr>
            <a:r>
              <a:rPr lang="en-US" sz="1150" i="1" dirty="0">
                <a:solidFill>
                  <a:srgbClr val="5C6B82"/>
                </a:solidFill>
                <a:latin typeface="Arial" pitchFamily="34" charset="0"/>
                <a:ea typeface="Arial" pitchFamily="34" charset="-122"/>
                <a:cs typeface="Arial" pitchFamily="34" charset="-120"/>
              </a:rPr>
              <a:t>Analytics feed back in  -  the machine gets smarter each week</a:t>
            </a:r>
            <a:endParaRPr lang="en-US" sz="1150" dirty="0"/>
          </a:p>
        </p:txBody>
      </p:sp>
      <p:sp>
        <p:nvSpPr>
          <p:cNvPr id="34" name="Text 32"/>
          <p:cNvSpPr/>
          <p:nvPr/>
        </p:nvSpPr>
        <p:spPr>
          <a:xfrm>
            <a:off x="457200" y="5559552"/>
            <a:ext cx="3291840" cy="502920"/>
          </a:xfrm>
          <a:prstGeom prst="rect">
            <a:avLst/>
          </a:prstGeom>
          <a:noFill/>
          <a:ln/>
        </p:spPr>
        <p:txBody>
          <a:bodyPr wrap="square" lIns="0" tIns="0" rIns="0" bIns="0" rtlCol="0" anchor="ctr"/>
          <a:lstStyle/>
          <a:p>
            <a:pPr indent="0" marL="0">
              <a:buNone/>
            </a:pPr>
            <a:r>
              <a:rPr lang="en-US" sz="3000" b="1" dirty="0">
                <a:solidFill>
                  <a:srgbClr val="264D7E"/>
                </a:solidFill>
                <a:latin typeface="Cambria" pitchFamily="34" charset="0"/>
                <a:ea typeface="Cambria" pitchFamily="34" charset="-122"/>
                <a:cs typeface="Cambria" pitchFamily="34" charset="-120"/>
              </a:rPr>
              <a:t>~$150-165</a:t>
            </a:r>
            <a:endParaRPr lang="en-US" sz="3000" dirty="0"/>
          </a:p>
        </p:txBody>
      </p:sp>
      <p:sp>
        <p:nvSpPr>
          <p:cNvPr id="35" name="Text 33"/>
          <p:cNvSpPr/>
          <p:nvPr/>
        </p:nvSpPr>
        <p:spPr>
          <a:xfrm>
            <a:off x="457200" y="6062472"/>
            <a:ext cx="3566160" cy="274320"/>
          </a:xfrm>
          <a:prstGeom prst="rect">
            <a:avLst/>
          </a:prstGeom>
          <a:noFill/>
          <a:ln/>
        </p:spPr>
        <p:txBody>
          <a:bodyPr wrap="square" lIns="0" tIns="0" rIns="0" bIns="0" rtlCol="0" anchor="ctr"/>
          <a:lstStyle/>
          <a:p>
            <a:pPr indent="0" marL="0">
              <a:buNone/>
            </a:pPr>
            <a:r>
              <a:rPr lang="en-US" sz="1150" dirty="0">
                <a:solidFill>
                  <a:srgbClr val="5C6B82"/>
                </a:solidFill>
                <a:latin typeface="Arial" pitchFamily="34" charset="0"/>
                <a:ea typeface="Arial" pitchFamily="34" charset="-122"/>
                <a:cs typeface="Arial" pitchFamily="34" charset="-120"/>
              </a:rPr>
              <a:t>per month, all in</a:t>
            </a:r>
            <a:endParaRPr lang="en-US" sz="1150" dirty="0"/>
          </a:p>
        </p:txBody>
      </p:sp>
      <p:sp>
        <p:nvSpPr>
          <p:cNvPr id="36" name="Text 34"/>
          <p:cNvSpPr/>
          <p:nvPr/>
        </p:nvSpPr>
        <p:spPr>
          <a:xfrm>
            <a:off x="4572000" y="5559552"/>
            <a:ext cx="3291840" cy="502920"/>
          </a:xfrm>
          <a:prstGeom prst="rect">
            <a:avLst/>
          </a:prstGeom>
          <a:noFill/>
          <a:ln/>
        </p:spPr>
        <p:txBody>
          <a:bodyPr wrap="square" lIns="0" tIns="0" rIns="0" bIns="0" rtlCol="0" anchor="ctr"/>
          <a:lstStyle/>
          <a:p>
            <a:pPr indent="0" marL="0">
              <a:buNone/>
            </a:pPr>
            <a:r>
              <a:rPr lang="en-US" sz="3000" b="1" dirty="0">
                <a:solidFill>
                  <a:srgbClr val="264D7E"/>
                </a:solidFill>
                <a:latin typeface="Cambria" pitchFamily="34" charset="0"/>
                <a:ea typeface="Cambria" pitchFamily="34" charset="-122"/>
                <a:cs typeface="Cambria" pitchFamily="34" charset="-120"/>
              </a:rPr>
              <a:t>$149</a:t>
            </a:r>
            <a:endParaRPr lang="en-US" sz="3000" dirty="0"/>
          </a:p>
        </p:txBody>
      </p:sp>
      <p:sp>
        <p:nvSpPr>
          <p:cNvPr id="37" name="Text 35"/>
          <p:cNvSpPr/>
          <p:nvPr/>
        </p:nvSpPr>
        <p:spPr>
          <a:xfrm>
            <a:off x="4572000" y="6062472"/>
            <a:ext cx="3566160" cy="274320"/>
          </a:xfrm>
          <a:prstGeom prst="rect">
            <a:avLst/>
          </a:prstGeom>
          <a:noFill/>
          <a:ln/>
        </p:spPr>
        <p:txBody>
          <a:bodyPr wrap="square" lIns="0" tIns="0" rIns="0" bIns="0" rtlCol="0" anchor="ctr"/>
          <a:lstStyle/>
          <a:p>
            <a:pPr indent="0" marL="0">
              <a:buNone/>
            </a:pPr>
            <a:r>
              <a:rPr lang="en-US" sz="1150" dirty="0">
                <a:solidFill>
                  <a:srgbClr val="5C6B82"/>
                </a:solidFill>
                <a:latin typeface="Arial" pitchFamily="34" charset="0"/>
                <a:ea typeface="Arial" pitchFamily="34" charset="-122"/>
                <a:cs typeface="Arial" pitchFamily="34" charset="-120"/>
              </a:rPr>
              <a:t>Ayrshare · posting + analytics</a:t>
            </a:r>
            <a:endParaRPr lang="en-US" sz="1150" dirty="0"/>
          </a:p>
        </p:txBody>
      </p:sp>
      <p:sp>
        <p:nvSpPr>
          <p:cNvPr id="38" name="Text 36"/>
          <p:cNvSpPr/>
          <p:nvPr/>
        </p:nvSpPr>
        <p:spPr>
          <a:xfrm>
            <a:off x="8595360" y="5559552"/>
            <a:ext cx="3291840" cy="502920"/>
          </a:xfrm>
          <a:prstGeom prst="rect">
            <a:avLst/>
          </a:prstGeom>
          <a:noFill/>
          <a:ln/>
        </p:spPr>
        <p:txBody>
          <a:bodyPr wrap="square" lIns="0" tIns="0" rIns="0" bIns="0" rtlCol="0" anchor="ctr"/>
          <a:lstStyle/>
          <a:p>
            <a:pPr indent="0" marL="0">
              <a:buNone/>
            </a:pPr>
            <a:r>
              <a:rPr lang="en-US" sz="3000" b="1" dirty="0">
                <a:solidFill>
                  <a:srgbClr val="264D7E"/>
                </a:solidFill>
                <a:latin typeface="Cambria" pitchFamily="34" charset="0"/>
                <a:ea typeface="Cambria" pitchFamily="34" charset="-122"/>
                <a:cs typeface="Cambria" pitchFamily="34" charset="-120"/>
              </a:rPr>
              <a:t>$1-18</a:t>
            </a:r>
            <a:endParaRPr lang="en-US" sz="3000" dirty="0"/>
          </a:p>
        </p:txBody>
      </p:sp>
      <p:sp>
        <p:nvSpPr>
          <p:cNvPr id="39" name="Text 37"/>
          <p:cNvSpPr/>
          <p:nvPr/>
        </p:nvSpPr>
        <p:spPr>
          <a:xfrm>
            <a:off x="8595360" y="6062472"/>
            <a:ext cx="3566160" cy="274320"/>
          </a:xfrm>
          <a:prstGeom prst="rect">
            <a:avLst/>
          </a:prstGeom>
          <a:noFill/>
          <a:ln/>
        </p:spPr>
        <p:txBody>
          <a:bodyPr wrap="square" lIns="0" tIns="0" rIns="0" bIns="0" rtlCol="0" anchor="ctr"/>
          <a:lstStyle/>
          <a:p>
            <a:pPr indent="0" marL="0">
              <a:buNone/>
            </a:pPr>
            <a:r>
              <a:rPr lang="en-US" sz="1150" dirty="0">
                <a:solidFill>
                  <a:srgbClr val="5C6B82"/>
                </a:solidFill>
                <a:latin typeface="Arial" pitchFamily="34" charset="0"/>
                <a:ea typeface="Arial" pitchFamily="34" charset="-122"/>
                <a:cs typeface="Arial" pitchFamily="34" charset="-120"/>
              </a:rPr>
              <a:t>everything else, combined</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2026-08-14T05:58:50Z</dcterms:created>
  <dcterms:modified xsi:type="dcterms:W3CDTF">2026-08-14T05:58:50Z</dcterms:modified>
</cp:coreProperties>
</file>